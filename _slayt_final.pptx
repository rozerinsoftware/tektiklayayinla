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63" r:id="rId11"/>
    <p:sldId id="264" r:id="rId12"/>
    <p:sldId id="265" r:id="rId13"/>
    <p:sldId id="272" r:id="rId14"/>
    <p:sldId id="273" r:id="rId15"/>
    <p:sldId id="266" r:id="rId16"/>
    <p:sldId id="274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084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92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61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369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368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845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599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450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148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902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922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455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755576" y="764704"/>
            <a:ext cx="7772400" cy="1971650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İSTANBUL GELİŞİM ÜNİVERSİTESİ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b="1" dirty="0" smtClean="0"/>
              <a:t>MÜHENDİSLİK VE MİMARLIK FAKÜLTESİ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b="1" dirty="0" smtClean="0"/>
              <a:t>YAZILIM MÜHENDİSLİĞİ BÖLÜMÜ</a:t>
            </a:r>
            <a:endParaRPr lang="tr-TR" sz="3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31640" y="2996952"/>
            <a:ext cx="6584776" cy="1872208"/>
          </a:xfrm>
        </p:spPr>
        <p:txBody>
          <a:bodyPr>
            <a:normAutofit fontScale="32500" lnSpcReduction="20000"/>
          </a:bodyPr>
          <a:lstStyle/>
          <a:p>
            <a:r>
              <a:rPr lang="tr-TR" sz="9800" b="1" dirty="0" smtClean="0">
                <a:solidFill>
                  <a:schemeClr val="tx1"/>
                </a:solidFill>
              </a:rPr>
              <a:t>MOBİL TABANLI ÇOKLU KATEGORİ</a:t>
            </a:r>
          </a:p>
          <a:p>
            <a:r>
              <a:rPr lang="tr-TR" sz="9800" b="1" dirty="0" smtClean="0">
                <a:solidFill>
                  <a:schemeClr val="tx1"/>
                </a:solidFill>
              </a:rPr>
              <a:t>İLAN YÖNETİM SİSTEMİ</a:t>
            </a:r>
          </a:p>
          <a:p>
            <a:r>
              <a:rPr lang="tr-TR" sz="9800" b="1" dirty="0" smtClean="0">
                <a:solidFill>
                  <a:schemeClr val="tx1"/>
                </a:solidFill>
              </a:rPr>
              <a:t>(</a:t>
            </a:r>
            <a:r>
              <a:rPr lang="tr-TR" sz="9800" b="1" dirty="0" err="1" smtClean="0">
                <a:solidFill>
                  <a:schemeClr val="tx1"/>
                </a:solidFill>
              </a:rPr>
              <a:t>TekTıklaYayınla</a:t>
            </a:r>
            <a:r>
              <a:rPr lang="tr-TR" sz="9800" b="1" dirty="0" smtClean="0">
                <a:solidFill>
                  <a:schemeClr val="tx1"/>
                </a:solidFill>
              </a:rPr>
              <a:t>)</a:t>
            </a:r>
          </a:p>
          <a:p>
            <a:endParaRPr lang="tr-TR" b="1" dirty="0" smtClean="0">
              <a:solidFill>
                <a:schemeClr val="tx1"/>
              </a:solidFill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4283968" y="5617435"/>
            <a:ext cx="460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smtClean="0"/>
              <a:t>Esma </a:t>
            </a:r>
            <a:r>
              <a:rPr lang="tr-TR" sz="2000" b="1" dirty="0" err="1" smtClean="0"/>
              <a:t>Rozerin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Beyazit</a:t>
            </a:r>
            <a:endParaRPr lang="tr-TR" sz="2000" b="1" dirty="0" smtClean="0"/>
          </a:p>
          <a:p>
            <a:r>
              <a:rPr lang="tr-TR" sz="2000" b="1" dirty="0" smtClean="0"/>
              <a:t>Danışman: </a:t>
            </a:r>
            <a:r>
              <a:rPr lang="tr-TR" sz="2000" b="1" dirty="0" smtClean="0"/>
              <a:t>Doç. Dr. </a:t>
            </a:r>
            <a:r>
              <a:rPr lang="tr-TR" sz="2000" b="1" dirty="0" smtClean="0"/>
              <a:t>Serkan Gönen</a:t>
            </a:r>
          </a:p>
        </p:txBody>
      </p:sp>
    </p:spTree>
    <p:extLst>
      <p:ext uri="{BB962C8B-B14F-4D97-AF65-F5344CB8AC3E}">
        <p14:creationId xmlns:p14="http://schemas.microsoft.com/office/powerpoint/2010/main" val="185301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Tanımı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Günümüzde kullanıcılar aynı ilanı farklı ilan platformlarına ayrı ayrı girmek zorunda kalmaktadır.</a:t>
            </a:r>
          </a:p>
          <a:p>
            <a:r>
              <a:rPr lang="tr-TR" dirty="0"/>
              <a:t>Her platformun farklı </a:t>
            </a:r>
            <a:r>
              <a:rPr lang="tr-TR" dirty="0" err="1"/>
              <a:t>arayüzü</a:t>
            </a:r>
            <a:r>
              <a:rPr lang="tr-TR" dirty="0"/>
              <a:t>, farklı ilan oluşturma süreci ve farklı kullanıcı deneyimi bulunmaktadır.</a:t>
            </a:r>
          </a:p>
          <a:p>
            <a:r>
              <a:rPr lang="tr-TR" dirty="0"/>
              <a:t>Bu durum zaman kaybına, veri tekrarına ve ilan bilgilerinde tutarsızlıklara neden olabilmektedir.</a:t>
            </a:r>
          </a:p>
          <a:p>
            <a:r>
              <a:rPr lang="tr-TR" dirty="0"/>
              <a:t>Bu problem özellikle bireysel kullanıcılar ve küçük işletmeler için daha belirgin hale gelmektedir.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091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Amacı ve Kapsamı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Bu projenin amacı, ilan oluşturma ve yönetme sürecini tek bir mobil uygulama altında toplamaktır.</a:t>
            </a:r>
          </a:p>
          <a:p>
            <a:r>
              <a:rPr lang="tr-TR" dirty="0"/>
              <a:t>Kullanıcı uygulama üzerinden ilan oluşturabilir, fotoğraf yükleyebilir, konum işaretleyebilir, platform seçebilir, mesajlaşabilir ve ilanlarını yönetebilir.</a:t>
            </a:r>
          </a:p>
          <a:p>
            <a:r>
              <a:rPr lang="tr-TR" dirty="0"/>
              <a:t>Projede emlak, vasıta, ikinci el ve iş makinesi olmak üzere dört ana ilan kategorisi desteklenmektedir.</a:t>
            </a:r>
          </a:p>
          <a:p>
            <a:r>
              <a:rPr lang="tr-TR" dirty="0"/>
              <a:t>Gerçek platform API entegrasyonu mevcut aşamada bulunmadığı için yayın süreci simülasyon mantığıyla modellenmiştir.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916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dirty="0"/>
              <a:t>Literatür Taraması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Proje geliştirilmeden önce çapraz platform mobil uygulama geliştirme, bulut tabanlı </a:t>
            </a:r>
            <a:r>
              <a:rPr lang="tr-TR" dirty="0" err="1"/>
              <a:t>backend</a:t>
            </a:r>
            <a:r>
              <a:rPr lang="tr-TR" dirty="0"/>
              <a:t> sistemleri, </a:t>
            </a:r>
            <a:r>
              <a:rPr lang="tr-TR" dirty="0" err="1"/>
              <a:t>NoSQL</a:t>
            </a:r>
            <a:r>
              <a:rPr lang="tr-TR" dirty="0"/>
              <a:t> </a:t>
            </a:r>
            <a:r>
              <a:rPr lang="tr-TR" dirty="0" err="1"/>
              <a:t>veritabanları</a:t>
            </a:r>
            <a:r>
              <a:rPr lang="tr-TR" dirty="0"/>
              <a:t>, mobil uygulama güvenliği ve kullanıcı deneyimi konularında literatür incelemesi yapılmıştır.</a:t>
            </a:r>
          </a:p>
          <a:p>
            <a:r>
              <a:rPr lang="tr-TR" dirty="0"/>
              <a:t>Bu incelemeler sonucunda </a:t>
            </a:r>
            <a:r>
              <a:rPr lang="tr-TR" dirty="0" err="1"/>
              <a:t>React</a:t>
            </a:r>
            <a:r>
              <a:rPr lang="tr-TR" dirty="0"/>
              <a:t> </a:t>
            </a:r>
            <a:r>
              <a:rPr lang="tr-TR" dirty="0" err="1"/>
              <a:t>Native</a:t>
            </a:r>
            <a:r>
              <a:rPr lang="tr-TR" dirty="0"/>
              <a:t>, </a:t>
            </a:r>
            <a:r>
              <a:rPr lang="tr-TR" dirty="0" err="1"/>
              <a:t>Firebase</a:t>
            </a:r>
            <a:r>
              <a:rPr lang="tr-TR" dirty="0"/>
              <a:t> ve </a:t>
            </a:r>
            <a:r>
              <a:rPr lang="tr-TR" dirty="0" err="1"/>
              <a:t>Firestore</a:t>
            </a:r>
            <a:r>
              <a:rPr lang="tr-TR" dirty="0"/>
              <a:t> teknolojilerinin proje için uygun olduğu değerlendirilmiştir.</a:t>
            </a:r>
          </a:p>
          <a:p>
            <a:r>
              <a:rPr lang="tr-TR" dirty="0"/>
              <a:t>Ayrıca mobil güvenlik açısından OWASP MASVS ilkeleri dikkate alınmıştır.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300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Kullanılan Teknolojiler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Uygulama </a:t>
            </a:r>
            <a:r>
              <a:rPr lang="tr-TR" dirty="0" err="1"/>
              <a:t>React</a:t>
            </a:r>
            <a:r>
              <a:rPr lang="tr-TR" dirty="0"/>
              <a:t> </a:t>
            </a:r>
            <a:r>
              <a:rPr lang="tr-TR" dirty="0" err="1"/>
              <a:t>Native</a:t>
            </a:r>
            <a:r>
              <a:rPr lang="tr-TR" dirty="0"/>
              <a:t> ve Expo kullanılarak geliştirilmiştir.</a:t>
            </a:r>
          </a:p>
          <a:p>
            <a:r>
              <a:rPr lang="tr-TR" dirty="0"/>
              <a:t>Kullanıcı kayıt, giriş ve e-posta doğrulama işlemleri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 ile sağlanmıştır.</a:t>
            </a:r>
          </a:p>
          <a:p>
            <a:r>
              <a:rPr lang="tr-TR" dirty="0"/>
              <a:t>İlan, kullanıcı ve mesajlaşma verileri </a:t>
            </a:r>
            <a:r>
              <a:rPr lang="tr-TR" dirty="0" err="1"/>
              <a:t>Cloud</a:t>
            </a:r>
            <a:r>
              <a:rPr lang="tr-TR" dirty="0"/>
              <a:t> </a:t>
            </a:r>
            <a:r>
              <a:rPr lang="tr-TR" dirty="0" err="1"/>
              <a:t>Firestore</a:t>
            </a:r>
            <a:r>
              <a:rPr lang="tr-TR" dirty="0"/>
              <a:t> üzerinde saklanmıştır.</a:t>
            </a:r>
          </a:p>
          <a:p>
            <a:r>
              <a:rPr lang="tr-TR" dirty="0"/>
              <a:t>İlan fotoğrafları </a:t>
            </a:r>
            <a:r>
              <a:rPr lang="tr-TR" dirty="0" err="1"/>
              <a:t>Cloudinary</a:t>
            </a:r>
            <a:r>
              <a:rPr lang="tr-TR" dirty="0"/>
              <a:t> üzerinde tutulmuştur.</a:t>
            </a:r>
          </a:p>
          <a:p>
            <a:r>
              <a:rPr lang="tr-TR" dirty="0"/>
              <a:t>Favoriler ve bazı kullanıcı tercihleri </a:t>
            </a:r>
            <a:r>
              <a:rPr lang="tr-TR" dirty="0" err="1"/>
              <a:t>AsyncStorage</a:t>
            </a:r>
            <a:r>
              <a:rPr lang="tr-TR" dirty="0"/>
              <a:t> ile cihaz içinde saklanmıştır.</a:t>
            </a:r>
          </a:p>
          <a:p>
            <a:r>
              <a:rPr lang="tr-TR" dirty="0"/>
              <a:t>Konum işlemleri için Expo </a:t>
            </a:r>
            <a:r>
              <a:rPr lang="tr-TR" dirty="0" err="1"/>
              <a:t>Location</a:t>
            </a:r>
            <a:r>
              <a:rPr lang="tr-TR" dirty="0"/>
              <a:t>, ekran geçişleri için </a:t>
            </a:r>
            <a:r>
              <a:rPr lang="tr-TR" dirty="0" err="1"/>
              <a:t>React</a:t>
            </a:r>
            <a:r>
              <a:rPr lang="tr-TR" dirty="0"/>
              <a:t> </a:t>
            </a:r>
            <a:r>
              <a:rPr lang="tr-TR" dirty="0" err="1"/>
              <a:t>Navigation</a:t>
            </a:r>
            <a:r>
              <a:rPr lang="tr-TR" dirty="0"/>
              <a:t> kullanılmıştır.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674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Sistem, mobil istemci, bulut servisleri ve platform simülasyon katmanı olmak üzere üç temel yapıdan oluşmaktadır.</a:t>
            </a:r>
          </a:p>
          <a:p>
            <a:r>
              <a:rPr lang="tr-TR" dirty="0"/>
              <a:t>Mobil uygulama doğrudan </a:t>
            </a:r>
            <a:r>
              <a:rPr lang="tr-TR" dirty="0" err="1"/>
              <a:t>Firebase</a:t>
            </a:r>
            <a:r>
              <a:rPr lang="tr-TR" dirty="0"/>
              <a:t> ve </a:t>
            </a:r>
            <a:r>
              <a:rPr lang="tr-TR" dirty="0" err="1"/>
              <a:t>Cloudinary</a:t>
            </a:r>
            <a:r>
              <a:rPr lang="tr-TR" dirty="0"/>
              <a:t> servisleriyle iletişim kurmaktadır.</a:t>
            </a:r>
          </a:p>
          <a:p>
            <a:r>
              <a:rPr lang="tr-TR" dirty="0"/>
              <a:t>Bu projede ayrı bir </a:t>
            </a:r>
            <a:r>
              <a:rPr lang="tr-TR" dirty="0" err="1"/>
              <a:t>backend</a:t>
            </a:r>
            <a:r>
              <a:rPr lang="tr-TR" dirty="0"/>
              <a:t> sunucusu kurulmamış, </a:t>
            </a:r>
            <a:r>
              <a:rPr lang="tr-TR" dirty="0" err="1"/>
              <a:t>Firebase’in</a:t>
            </a:r>
            <a:r>
              <a:rPr lang="tr-TR" dirty="0"/>
              <a:t> sunduğu </a:t>
            </a:r>
            <a:r>
              <a:rPr lang="tr-TR" dirty="0" err="1"/>
              <a:t>BaaS</a:t>
            </a:r>
            <a:r>
              <a:rPr lang="tr-TR" dirty="0"/>
              <a:t> yapısından yararlanılmıştır.</a:t>
            </a:r>
          </a:p>
          <a:p>
            <a:r>
              <a:rPr lang="tr-TR" dirty="0"/>
              <a:t>Bu sayede geliştirme süreci hızlandırılmış ve sunucu yönetimi ihtiyacı azaltılmıştır.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8026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412776"/>
            <a:ext cx="4868062" cy="4137323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395536" y="58052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Akış: Mobil uygulama →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</a:t>
            </a:r>
            <a:r>
              <a:rPr lang="tr-TR" dirty="0"/>
              <a:t> → </a:t>
            </a:r>
            <a:r>
              <a:rPr lang="tr-TR" dirty="0" err="1"/>
              <a:t>Firestore</a:t>
            </a:r>
            <a:r>
              <a:rPr lang="tr-TR" dirty="0"/>
              <a:t> → </a:t>
            </a:r>
            <a:r>
              <a:rPr lang="tr-TR" dirty="0" err="1"/>
              <a:t>Cloudinary</a:t>
            </a:r>
            <a:r>
              <a:rPr lang="tr-TR" dirty="0"/>
              <a:t> → Platform simülasyonu</a:t>
            </a:r>
          </a:p>
        </p:txBody>
      </p:sp>
    </p:spTree>
    <p:extLst>
      <p:ext uri="{BB962C8B-B14F-4D97-AF65-F5344CB8AC3E}">
        <p14:creationId xmlns:p14="http://schemas.microsoft.com/office/powerpoint/2010/main" val="2475175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Akışı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Kullanıcı öncelikle kayıt olur ve e-posta adresini doğrular.</a:t>
            </a:r>
          </a:p>
          <a:p>
            <a:r>
              <a:rPr lang="tr-TR" dirty="0"/>
              <a:t>Daha sonra giriş yaparak ilan oluşturma sürecine geçer.</a:t>
            </a:r>
          </a:p>
          <a:p>
            <a:r>
              <a:rPr lang="tr-TR" dirty="0"/>
              <a:t>İlan verirken kategori seçer, kategoriye uygun form alanlarını doldurur, fotoğraf ekler ve konum işaretler.</a:t>
            </a:r>
          </a:p>
          <a:p>
            <a:r>
              <a:rPr lang="tr-TR" dirty="0"/>
              <a:t>Son aşamada yayınlanacak platformları seçer.</a:t>
            </a:r>
          </a:p>
          <a:p>
            <a:r>
              <a:rPr lang="tr-TR" dirty="0"/>
              <a:t>İlan bilgileri </a:t>
            </a:r>
            <a:r>
              <a:rPr lang="tr-TR" dirty="0" err="1"/>
              <a:t>Firestore’a</a:t>
            </a:r>
            <a:r>
              <a:rPr lang="tr-TR" dirty="0"/>
              <a:t>, fotoğraflar ise </a:t>
            </a:r>
            <a:r>
              <a:rPr lang="tr-TR" dirty="0" err="1"/>
              <a:t>Cloudinary’ye</a:t>
            </a:r>
            <a:r>
              <a:rPr lang="tr-TR" dirty="0"/>
              <a:t> kaydedilir.</a:t>
            </a:r>
          </a:p>
          <a:p>
            <a:r>
              <a:rPr lang="tr-TR" dirty="0"/>
              <a:t>Platformlara yayınlama işlemi ise simülasyon olarak gösterilir.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6676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64096"/>
          </a:xfrm>
        </p:spPr>
        <p:txBody>
          <a:bodyPr/>
          <a:lstStyle/>
          <a:p>
            <a:r>
              <a:rPr lang="tr-TR" dirty="0"/>
              <a:t>Uygulama Akışı</a:t>
            </a:r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96752"/>
            <a:ext cx="5256584" cy="55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3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Projede veriler </a:t>
            </a:r>
            <a:r>
              <a:rPr lang="tr-TR" dirty="0" err="1"/>
              <a:t>Cloud</a:t>
            </a:r>
            <a:r>
              <a:rPr lang="tr-TR" dirty="0"/>
              <a:t> </a:t>
            </a:r>
            <a:r>
              <a:rPr lang="tr-TR" dirty="0" err="1"/>
              <a:t>Firestore</a:t>
            </a:r>
            <a:r>
              <a:rPr lang="tr-TR" dirty="0"/>
              <a:t> üzerinde koleksiyon yapısıyla saklanmaktadır.</a:t>
            </a:r>
          </a:p>
          <a:p>
            <a:r>
              <a:rPr lang="tr-TR" dirty="0"/>
              <a:t>Temel koleksiyonlar </a:t>
            </a:r>
            <a:r>
              <a:rPr lang="tr-TR" dirty="0" err="1"/>
              <a:t>users</a:t>
            </a:r>
            <a:r>
              <a:rPr lang="tr-TR" dirty="0"/>
              <a:t>, ilanlar ve </a:t>
            </a:r>
            <a:r>
              <a:rPr lang="tr-TR" dirty="0" err="1"/>
              <a:t>konusmalar</a:t>
            </a:r>
            <a:r>
              <a:rPr lang="tr-TR" dirty="0"/>
              <a:t> şeklindedir.</a:t>
            </a:r>
          </a:p>
          <a:p>
            <a:r>
              <a:rPr lang="tr-TR" dirty="0"/>
              <a:t>Mesajlar ise konuşmaların altında alt koleksiyon olarak tutulmaktadır.</a:t>
            </a:r>
          </a:p>
          <a:p>
            <a:r>
              <a:rPr lang="tr-TR" dirty="0"/>
              <a:t>Kullanıcı şifreleri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 tarafından güvenli şekilde yönetilmektedir.</a:t>
            </a:r>
          </a:p>
          <a:p>
            <a:r>
              <a:rPr lang="tr-TR" dirty="0"/>
              <a:t>Fotoğraflar </a:t>
            </a:r>
            <a:r>
              <a:rPr lang="tr-TR" dirty="0" err="1"/>
              <a:t>Cloudinary</a:t>
            </a:r>
            <a:r>
              <a:rPr lang="tr-TR" dirty="0"/>
              <a:t> üzerinde saklanmakta, </a:t>
            </a:r>
            <a:r>
              <a:rPr lang="tr-TR" dirty="0" err="1"/>
              <a:t>Firestore’da</a:t>
            </a:r>
            <a:r>
              <a:rPr lang="tr-TR" dirty="0"/>
              <a:t> yalnızca fotoğraf URL bilgileri tutulmaktadır.</a:t>
            </a:r>
          </a:p>
          <a:p>
            <a:r>
              <a:rPr lang="tr-TR" dirty="0"/>
              <a:t>Favori ilanlar ve aramalar ise cihaz üzerinde saklanmaktadır.</a:t>
            </a:r>
          </a:p>
          <a:p>
            <a:r>
              <a:rPr lang="tr-TR" b="1" dirty="0"/>
              <a:t>Kısaca:</a:t>
            </a:r>
            <a:r>
              <a:rPr lang="tr-TR" dirty="0"/>
              <a:t> ş</a:t>
            </a:r>
            <a:r>
              <a:rPr lang="tr-TR" dirty="0" smtClean="0"/>
              <a:t>ifre </a:t>
            </a:r>
            <a:r>
              <a:rPr lang="tr-TR" dirty="0" err="1"/>
              <a:t>Authentication’da</a:t>
            </a:r>
            <a:r>
              <a:rPr lang="tr-TR" dirty="0"/>
              <a:t>, ilan ve mesaj </a:t>
            </a:r>
            <a:r>
              <a:rPr lang="tr-TR" dirty="0" err="1"/>
              <a:t>Firestore’da</a:t>
            </a:r>
            <a:r>
              <a:rPr lang="tr-TR" dirty="0"/>
              <a:t>, fotoğraf </a:t>
            </a:r>
            <a:r>
              <a:rPr lang="tr-TR" dirty="0" err="1"/>
              <a:t>Cloudinary’de</a:t>
            </a:r>
            <a:r>
              <a:rPr lang="tr-TR" dirty="0"/>
              <a:t>, favoriler telefonda tutuluyor.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102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/>
              <a:t>Projede güvenlik birkaç katmanda ele alınmıştır.</a:t>
            </a:r>
          </a:p>
          <a:p>
            <a:r>
              <a:rPr lang="tr-TR" dirty="0"/>
              <a:t>Kullanıcı doğrulama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 ile sağlanmıştır ve e-posta doğrulaması zorunlu tutulmuştur.</a:t>
            </a:r>
          </a:p>
          <a:p>
            <a:r>
              <a:rPr lang="tr-TR" dirty="0" err="1"/>
              <a:t>Firestore</a:t>
            </a:r>
            <a:r>
              <a:rPr lang="tr-TR" dirty="0"/>
              <a:t> güvenlik kuralları ile ilan ekleme, silme, güncelleme ve mesajlaşma işlemleri yetkilere göre sınırlandırılmıştır.</a:t>
            </a:r>
          </a:p>
          <a:p>
            <a:r>
              <a:rPr lang="tr-TR" dirty="0"/>
              <a:t>İlanları yalnızca ilan sahibi veya </a:t>
            </a:r>
            <a:r>
              <a:rPr lang="tr-TR" dirty="0" err="1"/>
              <a:t>admin</a:t>
            </a:r>
            <a:r>
              <a:rPr lang="tr-TR" dirty="0"/>
              <a:t> silebilir.</a:t>
            </a:r>
          </a:p>
          <a:p>
            <a:r>
              <a:rPr lang="tr-TR" dirty="0"/>
              <a:t>Mesajlar sadece konuşmanın iki tarafı tarafından görüntülenebilir.</a:t>
            </a:r>
          </a:p>
          <a:p>
            <a:r>
              <a:rPr lang="tr-TR" dirty="0"/>
              <a:t>Fotoğraf yükleme tarafında ise dosya türü ve boyut sınırlamaları uygulanmıştır.</a:t>
            </a:r>
          </a:p>
          <a:p>
            <a:r>
              <a:rPr lang="tr-TR" dirty="0"/>
              <a:t>Güvenlik kuralları sunucu tarafında </a:t>
            </a:r>
            <a:r>
              <a:rPr lang="tr-TR" dirty="0" err="1"/>
              <a:t>deploy</a:t>
            </a:r>
            <a:r>
              <a:rPr lang="tr-TR" dirty="0"/>
              <a:t> edilmiştir; uygulama tarafı atlatılsa bile yetkisiz işlem reddedilir</a:t>
            </a:r>
            <a:r>
              <a:rPr lang="tr-TR" dirty="0" smtClean="0"/>
              <a:t>.</a:t>
            </a:r>
          </a:p>
          <a:p>
            <a:r>
              <a:rPr lang="tr-TR" dirty="0" smtClean="0"/>
              <a:t> </a:t>
            </a:r>
            <a:r>
              <a:rPr lang="tr-TR" dirty="0"/>
              <a:t>Doğrulanmamış kullanıcı ilan veremez</a:t>
            </a:r>
          </a:p>
          <a:p>
            <a:r>
              <a:rPr lang="tr-TR" dirty="0"/>
              <a:t>Başkasının ilanı silinemez; mesajlar yalnızca iki tarafa açık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244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Ekranları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Uygulamada kayıt ve giriş ekranları, ana sayfa vitrini, kategoriye özel ilan oluşturma formları, ilan detay ekranı, profil ekranı, mesajlaşma ekranı ve </a:t>
            </a:r>
            <a:r>
              <a:rPr lang="tr-TR" dirty="0" err="1"/>
              <a:t>admin</a:t>
            </a:r>
            <a:r>
              <a:rPr lang="tr-TR" dirty="0"/>
              <a:t> paneli geliştirilmiştir.</a:t>
            </a:r>
          </a:p>
          <a:p>
            <a:r>
              <a:rPr lang="tr-TR" dirty="0"/>
              <a:t>Kategoriye göre farklı form alanları gösterilmektedir.</a:t>
            </a:r>
          </a:p>
          <a:p>
            <a:r>
              <a:rPr lang="tr-TR" dirty="0"/>
              <a:t>Kullanıcı en fazla 10 fotoğraf ekleyebilmekte, GPS veya harita üzerinden konum belirleyebilmektedir.</a:t>
            </a:r>
          </a:p>
          <a:p>
            <a:r>
              <a:rPr lang="tr-TR" dirty="0"/>
              <a:t>İlanlar filtrelenebilmekte ve sıralanabilmektedir.</a:t>
            </a:r>
          </a:p>
          <a:p>
            <a:r>
              <a:rPr lang="tr-TR" dirty="0" err="1"/>
              <a:t>Admin</a:t>
            </a:r>
            <a:r>
              <a:rPr lang="tr-TR" dirty="0"/>
              <a:t> paneli üzerinden </a:t>
            </a:r>
            <a:r>
              <a:rPr lang="tr-TR" dirty="0" err="1"/>
              <a:t>demo</a:t>
            </a:r>
            <a:r>
              <a:rPr lang="tr-TR" dirty="0"/>
              <a:t> ilanlar yönetilebilmektedir.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50590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</a:t>
            </a:r>
            <a:r>
              <a:rPr lang="tr-TR" dirty="0" smtClean="0"/>
              <a:t>Ekranları 1</a:t>
            </a:r>
            <a:endParaRPr lang="tr-TR" dirty="0"/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8938"/>
            <a:ext cx="1800200" cy="2595609"/>
          </a:xfrm>
          <a:prstGeom prst="rect">
            <a:avLst/>
          </a:prstGeom>
        </p:spPr>
      </p:pic>
      <p:pic>
        <p:nvPicPr>
          <p:cNvPr id="6" name="Resim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933056"/>
            <a:ext cx="1728192" cy="2530090"/>
          </a:xfrm>
          <a:prstGeom prst="rect">
            <a:avLst/>
          </a:prstGeom>
        </p:spPr>
      </p:pic>
      <p:pic>
        <p:nvPicPr>
          <p:cNvPr id="8" name="Resim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934988"/>
            <a:ext cx="1737115" cy="2591049"/>
          </a:xfrm>
          <a:prstGeom prst="rect">
            <a:avLst/>
          </a:prstGeom>
        </p:spPr>
      </p:pic>
      <p:pic>
        <p:nvPicPr>
          <p:cNvPr id="9" name="Resim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4063956"/>
            <a:ext cx="1951809" cy="2664296"/>
          </a:xfrm>
          <a:prstGeom prst="rect">
            <a:avLst/>
          </a:prstGeom>
        </p:spPr>
      </p:pic>
      <p:pic>
        <p:nvPicPr>
          <p:cNvPr id="10" name="Resim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0" y="4070853"/>
            <a:ext cx="1957199" cy="2666525"/>
          </a:xfrm>
          <a:prstGeom prst="rect">
            <a:avLst/>
          </a:prstGeom>
        </p:spPr>
      </p:pic>
      <p:pic>
        <p:nvPicPr>
          <p:cNvPr id="11" name="Resim 10"/>
          <p:cNvPicPr/>
          <p:nvPr/>
        </p:nvPicPr>
        <p:blipFill>
          <a:blip r:embed="rId7"/>
          <a:stretch>
            <a:fillRect/>
          </a:stretch>
        </p:blipFill>
        <p:spPr>
          <a:xfrm>
            <a:off x="6948264" y="1224046"/>
            <a:ext cx="1694724" cy="2525394"/>
          </a:xfrm>
          <a:prstGeom prst="rect">
            <a:avLst/>
          </a:prstGeom>
        </p:spPr>
      </p:pic>
      <p:pic>
        <p:nvPicPr>
          <p:cNvPr id="12" name="Resim 11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238" y="1224046"/>
            <a:ext cx="1887981" cy="2424911"/>
          </a:xfrm>
          <a:prstGeom prst="rect">
            <a:avLst/>
          </a:prstGeom>
        </p:spPr>
      </p:pic>
      <p:pic>
        <p:nvPicPr>
          <p:cNvPr id="13" name="Resim 12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228914"/>
            <a:ext cx="1859399" cy="270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8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tr-TR" dirty="0"/>
              <a:t>Uygulama Ekranları 2</a:t>
            </a:r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249" y="3977833"/>
            <a:ext cx="1692189" cy="2664296"/>
          </a:xfrm>
          <a:prstGeom prst="rect">
            <a:avLst/>
          </a:prstGeom>
        </p:spPr>
      </p:pic>
      <p:pic>
        <p:nvPicPr>
          <p:cNvPr id="5" name="Resim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48264" y="1100050"/>
            <a:ext cx="1728192" cy="2795681"/>
          </a:xfrm>
          <a:prstGeom prst="rect">
            <a:avLst/>
          </a:prstGeom>
        </p:spPr>
      </p:pic>
      <p:pic>
        <p:nvPicPr>
          <p:cNvPr id="6" name="Resim 5"/>
          <p:cNvPicPr/>
          <p:nvPr/>
        </p:nvPicPr>
        <p:blipFill>
          <a:blip r:embed="rId4"/>
          <a:stretch>
            <a:fillRect/>
          </a:stretch>
        </p:blipFill>
        <p:spPr>
          <a:xfrm>
            <a:off x="2555775" y="1124744"/>
            <a:ext cx="1656185" cy="2850249"/>
          </a:xfrm>
          <a:prstGeom prst="rect">
            <a:avLst/>
          </a:prstGeom>
        </p:spPr>
      </p:pic>
      <p:pic>
        <p:nvPicPr>
          <p:cNvPr id="7" name="Resim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39" y="1122082"/>
            <a:ext cx="1787421" cy="2850249"/>
          </a:xfrm>
          <a:prstGeom prst="rect">
            <a:avLst/>
          </a:prstGeom>
        </p:spPr>
      </p:pic>
      <p:pic>
        <p:nvPicPr>
          <p:cNvPr id="8" name="Resim 7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00050"/>
            <a:ext cx="1728192" cy="285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5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r>
              <a:rPr lang="tr-TR" dirty="0"/>
              <a:t>Demo Akışı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Vitrin </a:t>
            </a:r>
            <a:r>
              <a:rPr lang="tr-TR" dirty="0"/>
              <a:t>ve kategori filtreleri → İlan detayı → Kullanıcı girişi → İkinci el ilan oluşturma → Platform seçimi → Mesajlaşma </a:t>
            </a:r>
            <a:r>
              <a:rPr lang="tr-TR" dirty="0" smtClean="0"/>
              <a:t>→ </a:t>
            </a:r>
            <a:r>
              <a:rPr lang="tr-TR" dirty="0"/>
              <a:t>Profil / İlanlarım → </a:t>
            </a:r>
            <a:r>
              <a:rPr lang="tr-TR" dirty="0" err="1"/>
              <a:t>Admin</a:t>
            </a:r>
            <a:r>
              <a:rPr lang="tr-TR" dirty="0"/>
              <a:t> paneli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1082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 ve Doğrulama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err="1"/>
              <a:t>Android</a:t>
            </a:r>
            <a:r>
              <a:rPr lang="tr-TR" dirty="0"/>
              <a:t> cihaz ve </a:t>
            </a:r>
            <a:r>
              <a:rPr lang="tr-TR" dirty="0" err="1"/>
              <a:t>emülatör</a:t>
            </a:r>
            <a:r>
              <a:rPr lang="tr-TR" dirty="0"/>
              <a:t> üzerinde manuel test yapılmıştır.</a:t>
            </a:r>
          </a:p>
          <a:p>
            <a:r>
              <a:rPr lang="tr-TR" dirty="0"/>
              <a:t>Kayıt, giriş, ilan oluşturma, vitrin, filtreleme, mesajlaşma ve </a:t>
            </a:r>
            <a:r>
              <a:rPr lang="tr-TR" dirty="0" err="1"/>
              <a:t>admin</a:t>
            </a:r>
            <a:r>
              <a:rPr lang="tr-TR" dirty="0"/>
              <a:t> paneli akışları test edilmiştir.</a:t>
            </a:r>
          </a:p>
          <a:p>
            <a:r>
              <a:rPr lang="tr-TR" dirty="0" err="1"/>
              <a:t>Firestore</a:t>
            </a:r>
            <a:r>
              <a:rPr lang="tr-TR" dirty="0"/>
              <a:t> güvenlik kuralları kontrol edilmiş; yetkisiz ilan silme işlemi engellenmiştir.</a:t>
            </a:r>
          </a:p>
          <a:p>
            <a:r>
              <a:rPr lang="tr-TR" dirty="0" err="1"/>
              <a:t>Admin</a:t>
            </a:r>
            <a:r>
              <a:rPr lang="tr-TR" dirty="0"/>
              <a:t> paneli ve jüri gösterimi için hazırlanan 24 örnek ilan doğrulanmıştır.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4362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 err="1"/>
              <a:t>TekTıklaYayınla</a:t>
            </a:r>
            <a:r>
              <a:rPr lang="tr-TR" dirty="0"/>
              <a:t>, ilan oluşturma ve yönetme sürecini tek mobil uygulama altında toplamayı amaçlayan işlevsel bir prototip olarak geliştirilmiştir.</a:t>
            </a:r>
          </a:p>
          <a:p>
            <a:r>
              <a:rPr lang="tr-TR" dirty="0"/>
              <a:t>Projede dört kategorili ilan yapısı, kullanıcı yönetimi, fotoğraf yükleme, konum işaretleme, mesajlaşma, </a:t>
            </a:r>
            <a:r>
              <a:rPr lang="tr-TR" dirty="0" err="1"/>
              <a:t>admin</a:t>
            </a:r>
            <a:r>
              <a:rPr lang="tr-TR" dirty="0"/>
              <a:t> paneli ve güvenlik kuralları başarıyla uygulanmıştır.</a:t>
            </a:r>
          </a:p>
          <a:p>
            <a:r>
              <a:rPr lang="tr-TR" dirty="0"/>
              <a:t>Jüri gösterimi </a:t>
            </a:r>
            <a:r>
              <a:rPr lang="tr-TR" dirty="0" smtClean="0"/>
              <a:t>için 24 örnek </a:t>
            </a:r>
            <a:r>
              <a:rPr lang="tr-TR" dirty="0" err="1" smtClean="0"/>
              <a:t>demo</a:t>
            </a:r>
            <a:r>
              <a:rPr lang="tr-TR" dirty="0" smtClean="0"/>
              <a:t> ilan </a:t>
            </a:r>
            <a:r>
              <a:rPr lang="tr-TR" dirty="0"/>
              <a:t>hazırlanmış ve </a:t>
            </a:r>
            <a:r>
              <a:rPr lang="tr-TR" dirty="0" err="1"/>
              <a:t>admin</a:t>
            </a:r>
            <a:r>
              <a:rPr lang="tr-TR" dirty="0"/>
              <a:t> paneli üzerinden yönetilebilir hale getirilmiştir.</a:t>
            </a:r>
          </a:p>
          <a:p>
            <a:r>
              <a:rPr lang="tr-TR" dirty="0" smtClean="0"/>
              <a:t>Projenin </a:t>
            </a:r>
            <a:r>
              <a:rPr lang="tr-TR" dirty="0"/>
              <a:t>öne çıkan yönü; çok kategorili ilan yönetimi, platform seçimi simülasyonu ve </a:t>
            </a:r>
            <a:r>
              <a:rPr lang="tr-TR" dirty="0" err="1"/>
              <a:t>Firebase</a:t>
            </a:r>
            <a:r>
              <a:rPr lang="tr-TR" dirty="0"/>
              <a:t> tabanlı güvenlik yapısını tek bir mobil uygulamada birleştirmesidir.</a:t>
            </a:r>
          </a:p>
          <a:p>
            <a:r>
              <a:rPr lang="tr-TR" dirty="0"/>
              <a:t>Geliştirilen mimari, ileride gerçek platform API entegrasyonlarına uyarlanabilecek yapıdadır.</a:t>
            </a:r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25693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Kısıtlar ve Gelecek Çalışmalar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Projenin mevcut aşamasında gerçek ilan platformlarıyla API entegrasyonu bulunmamaktadır.</a:t>
            </a:r>
          </a:p>
          <a:p>
            <a:r>
              <a:rPr lang="tr-TR" dirty="0"/>
              <a:t>Bu nedenle yayın süreci simülasyon olarak modellenmiştir.</a:t>
            </a:r>
          </a:p>
          <a:p>
            <a:r>
              <a:rPr lang="tr-TR" dirty="0"/>
              <a:t>Uygulama </a:t>
            </a:r>
            <a:r>
              <a:rPr lang="tr-TR" dirty="0" err="1"/>
              <a:t>Android</a:t>
            </a:r>
            <a:r>
              <a:rPr lang="tr-TR" dirty="0"/>
              <a:t> platformunda test edilmiştir; </a:t>
            </a:r>
            <a:r>
              <a:rPr lang="tr-TR" dirty="0" err="1"/>
              <a:t>iOS</a:t>
            </a:r>
            <a:r>
              <a:rPr lang="tr-TR" dirty="0"/>
              <a:t> desteği, gerçek API entegrasyonu ve bildirim özelliklerinin eklenmesi planlanmaktadır.</a:t>
            </a:r>
          </a:p>
          <a:p>
            <a:r>
              <a:rPr lang="tr-TR" b="1" dirty="0"/>
              <a:t>Gelecekte yapılabilecek geliştirmeler:</a:t>
            </a:r>
          </a:p>
          <a:p>
            <a:r>
              <a:rPr lang="tr-TR" dirty="0" err="1"/>
              <a:t>Push</a:t>
            </a:r>
            <a:r>
              <a:rPr lang="tr-TR" dirty="0"/>
              <a:t> bildirimleri </a:t>
            </a:r>
          </a:p>
          <a:p>
            <a:r>
              <a:rPr lang="tr-TR" dirty="0"/>
              <a:t>Gelişmiş arama ve filtreleme </a:t>
            </a:r>
          </a:p>
          <a:p>
            <a:r>
              <a:rPr lang="tr-TR" dirty="0"/>
              <a:t>Gerçek API entegrasyonu </a:t>
            </a:r>
          </a:p>
          <a:p>
            <a:r>
              <a:rPr lang="tr-TR" dirty="0"/>
              <a:t>KVKK uyumluluğunun genişletilmesi </a:t>
            </a:r>
          </a:p>
          <a:p>
            <a:r>
              <a:rPr lang="tr-TR" dirty="0"/>
              <a:t>Performans iyileştirmeleri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1972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584176"/>
          </a:xfrm>
        </p:spPr>
        <p:txBody>
          <a:bodyPr/>
          <a:lstStyle/>
          <a:p>
            <a:r>
              <a:rPr lang="tr-TR" dirty="0"/>
              <a:t>Teşekkürler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2348880"/>
            <a:ext cx="8229600" cy="3561259"/>
          </a:xfrm>
        </p:spPr>
        <p:txBody>
          <a:bodyPr>
            <a:normAutofit/>
          </a:bodyPr>
          <a:lstStyle/>
          <a:p>
            <a:r>
              <a:rPr lang="tr-TR" dirty="0"/>
              <a:t>Tez sürecimdeki değerli katkılarından dolayı danışman hocam</a:t>
            </a:r>
            <a:br>
              <a:rPr lang="tr-TR" dirty="0"/>
            </a:br>
            <a:r>
              <a:rPr lang="tr-TR" b="1" dirty="0" smtClean="0"/>
              <a:t>Doç. Dr. </a:t>
            </a:r>
            <a:r>
              <a:rPr lang="tr-TR" b="1" dirty="0"/>
              <a:t>Serkan Gönen’e</a:t>
            </a:r>
            <a:r>
              <a:rPr lang="tr-TR" dirty="0"/>
              <a:t>,</a:t>
            </a:r>
          </a:p>
          <a:p>
            <a:r>
              <a:rPr lang="tr-TR" dirty="0"/>
              <a:t>değerlendirmeleri için jüri üyelerine</a:t>
            </a:r>
            <a:br>
              <a:rPr lang="tr-TR" dirty="0"/>
            </a:br>
            <a:r>
              <a:rPr lang="tr-TR" dirty="0"/>
              <a:t>ve beni dinleyen tüm katılımcılara teşekkürlerimi sunarım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068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892</Words>
  <Application>Microsoft Office PowerPoint</Application>
  <PresentationFormat>Ekran Gösterisi (4:3)</PresentationFormat>
  <Paragraphs>94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0" baseType="lpstr">
      <vt:lpstr>Ofis Teması</vt:lpstr>
      <vt:lpstr>İSTANBUL GELİŞİM ÜNİVERSİTESİ MÜHENDİSLİK VE MİMARLIK FAKÜLTESİ YAZILIM MÜHENDİSLİĞİ BÖLÜMÜ</vt:lpstr>
      <vt:lpstr>Problem Tanımı</vt:lpstr>
      <vt:lpstr>Projenin Amacı ve Kapsamı</vt:lpstr>
      <vt:lpstr> Literatür Taraması</vt:lpstr>
      <vt:lpstr>Kullanılan Teknolojiler</vt:lpstr>
      <vt:lpstr>Sistem Mimarisi</vt:lpstr>
      <vt:lpstr>Sistem Mimarisi</vt:lpstr>
      <vt:lpstr>Uygulama Akışı</vt:lpstr>
      <vt:lpstr>Uygulama Akışı</vt:lpstr>
      <vt:lpstr>Veri Yapısı</vt:lpstr>
      <vt:lpstr>Güvenlik</vt:lpstr>
      <vt:lpstr>Uygulama Ekranları</vt:lpstr>
      <vt:lpstr>Uygulama Ekranları 1</vt:lpstr>
      <vt:lpstr>Uygulama Ekranları 2</vt:lpstr>
      <vt:lpstr> Demo Akışı</vt:lpstr>
      <vt:lpstr>Test ve Doğrulama</vt:lpstr>
      <vt:lpstr>Sonuç</vt:lpstr>
      <vt:lpstr>Kısıtlar ve Gelecek Çalışmalar</vt:lpstr>
      <vt:lpstr>Teşekkürler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DELL</dc:creator>
  <cp:lastModifiedBy>DELL</cp:lastModifiedBy>
  <cp:revision>31</cp:revision>
  <dcterms:created xsi:type="dcterms:W3CDTF">2026-06-18T11:23:08Z</dcterms:created>
  <dcterms:modified xsi:type="dcterms:W3CDTF">2026-06-20T20:20:55Z</dcterms:modified>
</cp:coreProperties>
</file>